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A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5825b4bf5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5825b4bf5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5825b4bf5_3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5825b4bf5_3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5825b4bf5_3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5825b4bf5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5825b4bf5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5825b4bf5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5825b4bf5_1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5825b4bf5_1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b5825b4bf5_1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55a5a47c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55a5a47c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55a5a47c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5825b4bf5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5825b4bf5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5825b4bf5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5a01c238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5a01c238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b5a01c238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825b4bf5_3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5825b4bf5_3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b5825b4bf5_3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825b4bf5_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825b4bf5_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5825b4bf5_5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5825b4bf5_5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b5825b4bf5_5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5825b4bf5_5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5825b4bf5_5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b5825b4bf5_5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55a5a47c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55a5a47c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Vader sentiment analyse tool, das automatisch gesamt sentiment von -1 bis 1 bewertet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arbeitet mit wortliste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b55a5a47c7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5825b4bf5_5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5825b4bf5_5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b5825b4bf5_5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55a5a47c7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55a5a47c7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b55a5a47c7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55a5a47c7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55a5a47c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b55a5a47c7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01 Weiß">
  <p:cSld name="INHALTSFOLIE 01 Weiß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180000" y="114303"/>
            <a:ext cx="8775320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180001" y="607500"/>
            <a:ext cx="8775319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" name="Google Shape;17;p2"/>
          <p:cNvCxnSpPr/>
          <p:nvPr/>
        </p:nvCxnSpPr>
        <p:spPr>
          <a:xfrm>
            <a:off x="8555052" y="4767638"/>
            <a:ext cx="0" cy="333633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" name="Google Shape;18;p2"/>
          <p:cNvCxnSpPr/>
          <p:nvPr/>
        </p:nvCxnSpPr>
        <p:spPr>
          <a:xfrm>
            <a:off x="0" y="4737152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72777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704300"/>
            <a:ext cx="696991" cy="4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FOLIE Balken Blau">
  <p:cSld name="1_TITELFOLIE Balken Blau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059084" y="4182295"/>
            <a:ext cx="521621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8701" y="-308648"/>
            <a:ext cx="7406598" cy="4166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H Technikum Wien - University of Applied Sciences"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874" y="3214292"/>
            <a:ext cx="2622133" cy="1652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Foto Technikum Tag">
  <p:cSld name="TITELFOLIE Foto Technikum Tag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3128963" y="3599414"/>
            <a:ext cx="5897562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3128963" y="4294464"/>
            <a:ext cx="5897561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H Technikum Wien - University of Applied Sciences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5018" y="1916907"/>
            <a:ext cx="3366982" cy="212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Foto Technikum Nacht">
  <p:cSld name="TITELFOLIE Foto Technikum Nach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33971" y="3599413"/>
            <a:ext cx="5861296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>
                <a:solidFill>
                  <a:schemeClr val="lt1"/>
                </a:solidFill>
                <a:highlight>
                  <a:srgbClr val="72777A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41785" y="4279053"/>
            <a:ext cx="586129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  <a:highlight>
                  <a:srgbClr val="72777A"/>
                </a:highlight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H Technikum Wien - University of Applied Sciences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5018" y="1916906"/>
            <a:ext cx="3366982" cy="212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Balken Blau">
  <p:cSld name="TITELFOLIE Balken Blau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A96"/>
              </a:buClr>
              <a:buSzPts val="2700"/>
              <a:buFont typeface="Arial"/>
              <a:buNone/>
              <a:defRPr sz="2700">
                <a:solidFill>
                  <a:srgbClr val="005A9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3331746" y="3888000"/>
            <a:ext cx="5694779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5A96"/>
              </a:buClr>
              <a:buSzPts val="2100"/>
              <a:buNone/>
              <a:defRPr>
                <a:solidFill>
                  <a:srgbClr val="005A9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H Technikum Wien - University of Applied Sciences" id="38" name="Google Shape;3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7656" y="1020766"/>
            <a:ext cx="417195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nur Text Blau">
  <p:cSld name="TITELFOLIE nur Text Blau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A96"/>
              </a:buClr>
              <a:buSzPts val="4050"/>
              <a:buFont typeface="Arial"/>
              <a:buNone/>
              <a:defRPr sz="4050">
                <a:solidFill>
                  <a:srgbClr val="005A9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252000" y="2659502"/>
            <a:ext cx="8640000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5A96"/>
              </a:buClr>
              <a:buSzPts val="2100"/>
              <a:buNone/>
              <a:defRPr>
                <a:solidFill>
                  <a:srgbClr val="005A9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H Technikum Wien - University of Applied Sciences" id="42" name="Google Shape;4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1312" y="3186162"/>
            <a:ext cx="3242514" cy="2043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02 Weiß">
  <p:cSld name="INHALTSFOLIE 02 Weiß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180000" y="114303"/>
            <a:ext cx="8784000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4644614" y="607500"/>
            <a:ext cx="432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7" name="Google Shape;47;p8"/>
          <p:cNvCxnSpPr/>
          <p:nvPr/>
        </p:nvCxnSpPr>
        <p:spPr>
          <a:xfrm>
            <a:off x="0" y="4729447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72777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" name="Google Shape;48;p8"/>
          <p:cNvCxnSpPr/>
          <p:nvPr/>
        </p:nvCxnSpPr>
        <p:spPr>
          <a:xfrm>
            <a:off x="8555052" y="4767638"/>
            <a:ext cx="0" cy="333633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51" name="Google Shape;5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704300"/>
            <a:ext cx="696991" cy="4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Balken Grau">
  <p:cSld name="TITELFOLIE Balken Grau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331746" y="3888000"/>
            <a:ext cx="5694779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H Technikum Wien - University of Applied Sciences" id="55" name="Google Shape;5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7656" y="1020766"/>
            <a:ext cx="417195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nur Text Grau">
  <p:cSld name="TITELFOLIE nur Text Grau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77A"/>
              </a:buClr>
              <a:buSzPts val="4050"/>
              <a:buFont typeface="Arial"/>
              <a:buNone/>
              <a:defRPr sz="4050">
                <a:solidFill>
                  <a:srgbClr val="72777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252000" y="2663034"/>
            <a:ext cx="8640000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>
                <a:solidFill>
                  <a:schemeClr val="lt1"/>
                </a:solidFill>
                <a:highlight>
                  <a:srgbClr val="005A96"/>
                </a:highlight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H Technikum Wien - University of Applied Sciences" id="59" name="Google Shape;5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88826" y="3208647"/>
            <a:ext cx="3242514" cy="2043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01 Grau">
  <p:cSld name="INHALTSFOLIE 01 Grau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1"/>
          <p:cNvSpPr txBox="1"/>
          <p:nvPr>
            <p:ph type="title"/>
          </p:nvPr>
        </p:nvSpPr>
        <p:spPr>
          <a:xfrm>
            <a:off x="180001" y="114303"/>
            <a:ext cx="8768791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180000" y="607500"/>
            <a:ext cx="8768791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  <a:defRPr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Char char="−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>
                <a:solidFill>
                  <a:schemeClr val="lt2"/>
                </a:solidFill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4" name="Google Shape;64;p11"/>
          <p:cNvCxnSpPr/>
          <p:nvPr/>
        </p:nvCxnSpPr>
        <p:spPr>
          <a:xfrm>
            <a:off x="0" y="4729447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72777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" name="Google Shape;65;p11"/>
          <p:cNvCxnSpPr/>
          <p:nvPr/>
        </p:nvCxnSpPr>
        <p:spPr>
          <a:xfrm>
            <a:off x="8555052" y="4767638"/>
            <a:ext cx="0" cy="333633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68" name="Google Shape;6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704300"/>
            <a:ext cx="696991" cy="4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02 Grau">
  <p:cSld name="INHALTSFOLIE 02 Grau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180001" y="114303"/>
            <a:ext cx="8758517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  <a:defRPr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Char char="−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>
                <a:solidFill>
                  <a:schemeClr val="lt2"/>
                </a:solidFill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615632" y="606217"/>
            <a:ext cx="432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  <a:defRPr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Char char="−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>
                <a:solidFill>
                  <a:schemeClr val="lt2"/>
                </a:solidFill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4" name="Google Shape;74;p12"/>
          <p:cNvCxnSpPr/>
          <p:nvPr/>
        </p:nvCxnSpPr>
        <p:spPr>
          <a:xfrm>
            <a:off x="8555052" y="4767638"/>
            <a:ext cx="0" cy="333633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" name="Google Shape;75;p12"/>
          <p:cNvCxnSpPr/>
          <p:nvPr/>
        </p:nvCxnSpPr>
        <p:spPr>
          <a:xfrm>
            <a:off x="0" y="4729447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72777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704300"/>
            <a:ext cx="696991" cy="4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01 Blau">
  <p:cSld name="INHALTSFOLIE 01 Blau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 txBox="1"/>
          <p:nvPr>
            <p:ph type="title"/>
          </p:nvPr>
        </p:nvSpPr>
        <p:spPr>
          <a:xfrm>
            <a:off x="180001" y="114303"/>
            <a:ext cx="8758517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180000" y="607500"/>
            <a:ext cx="8768791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  <a:defRPr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Char char="−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>
                <a:solidFill>
                  <a:schemeClr val="lt2"/>
                </a:solidFill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3" name="Google Shape;83;p13"/>
          <p:cNvCxnSpPr/>
          <p:nvPr/>
        </p:nvCxnSpPr>
        <p:spPr>
          <a:xfrm>
            <a:off x="8555052" y="4767638"/>
            <a:ext cx="0" cy="333633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p13"/>
          <p:cNvCxnSpPr/>
          <p:nvPr/>
        </p:nvCxnSpPr>
        <p:spPr>
          <a:xfrm>
            <a:off x="0" y="4729447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72777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704300"/>
            <a:ext cx="696991" cy="4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FOLIE 02 Blau">
  <p:cSld name="INHALTSFOLIE 02 Blau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180000" y="114303"/>
            <a:ext cx="8784000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  <a:defRPr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Char char="−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>
                <a:solidFill>
                  <a:schemeClr val="lt2"/>
                </a:solidFill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4644000" y="607500"/>
            <a:ext cx="432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  <a:defRPr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Char char="−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>
                <a:solidFill>
                  <a:schemeClr val="lt2"/>
                </a:solidFill>
              </a:defRPr>
            </a:lvl4pPr>
            <a:lvl5pPr indent="-29527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3" name="Google Shape;93;p14"/>
          <p:cNvCxnSpPr/>
          <p:nvPr/>
        </p:nvCxnSpPr>
        <p:spPr>
          <a:xfrm>
            <a:off x="0" y="4729447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72777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14"/>
          <p:cNvCxnSpPr/>
          <p:nvPr/>
        </p:nvCxnSpPr>
        <p:spPr>
          <a:xfrm>
            <a:off x="8555052" y="4767638"/>
            <a:ext cx="0" cy="333633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4"/>
          <p:cNvSpPr txBox="1"/>
          <p:nvPr>
            <p:ph idx="11" type="ftr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704300"/>
            <a:ext cx="696991" cy="4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−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4">
          <p15:clr>
            <a:srgbClr val="F26B43"/>
          </p15:clr>
        </p15:guide>
        <p15:guide id="2" orient="horz" pos="72">
          <p15:clr>
            <a:srgbClr val="F26B43"/>
          </p15:clr>
        </p15:guide>
        <p15:guide id="3" orient="horz" pos="2981">
          <p15:clr>
            <a:srgbClr val="F26B43"/>
          </p15:clr>
        </p15:guide>
        <p15:guide id="4" pos="5687">
          <p15:clr>
            <a:srgbClr val="F26B43"/>
          </p15:clr>
        </p15:guide>
        <p15:guide id="5" orient="horz" pos="1620">
          <p15:clr>
            <a:srgbClr val="F26B43"/>
          </p15:clr>
        </p15:guide>
        <p15:guide id="6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A96"/>
              </a:buClr>
              <a:buSzPct val="98765"/>
              <a:buFont typeface="Arial"/>
              <a:buNone/>
            </a:pPr>
            <a:r>
              <a:rPr lang="de-AT"/>
              <a:t>Beziehung zwischen Youtube Trailer Sentiment und Filmerfolg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A96"/>
              </a:buClr>
              <a:buSzPct val="9876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252000" y="2659502"/>
            <a:ext cx="8640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A96"/>
              </a:buClr>
              <a:buSzPts val="2100"/>
              <a:buNone/>
            </a:pPr>
            <a:r>
              <a:rPr lang="de-AT"/>
              <a:t>Irem Arslan, </a:t>
            </a:r>
            <a:r>
              <a:rPr lang="de-AT"/>
              <a:t>Johannes Seidl,</a:t>
            </a:r>
            <a:r>
              <a:rPr lang="de-AT"/>
              <a:t> Ece Sen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180000" y="114303"/>
            <a:ext cx="87753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de-AT"/>
              <a:t>Problem &amp; Motivation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180001" y="607500"/>
            <a:ext cx="87753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de-AT"/>
              <a:t>Fragestellung:</a:t>
            </a:r>
            <a:endParaRPr b="1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Gibt es einen </a:t>
            </a:r>
            <a:r>
              <a:rPr lang="de-AT"/>
              <a:t>Zusammenhang zwischen</a:t>
            </a:r>
            <a:r>
              <a:rPr lang="de-AT"/>
              <a:t> Sentiment von YouTube-Trailer-Kommentare und dem Erfolg eines Films?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AT"/>
              <a:t>Warum relevant?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Trailer-Reaktionen entstehen vor Kino-Release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Potenzieller Early Indicator für Erfolg eines Films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>
            <p:ph idx="11" type="ftr"/>
          </p:nvPr>
        </p:nvSpPr>
        <p:spPr>
          <a:xfrm>
            <a:off x="2793304" y="4812504"/>
            <a:ext cx="567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Präsentationstitel | Name | Datum</a:t>
            </a:r>
            <a:endParaRPr/>
          </a:p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184350" y="2086047"/>
            <a:ext cx="8775300" cy="48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Ergebnisse unserer Arbeit</a:t>
            </a:r>
            <a:endParaRPr/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50" y="375422"/>
            <a:ext cx="2266953" cy="2266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180000" y="114303"/>
            <a:ext cx="87840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Zentrale Ergebnisse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Erfolgreiche Filme weisen tendenziell höhere IMDb-Ratings auf</a:t>
            </a: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Das durchschnittliche Kommentar-Sentiment liegt bei beiden Gruppen meist im leicht positiven Bereich</a:t>
            </a: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Starke Überlappung zwischen erfolgreichen und nicht erfolgreichen Filmen</a:t>
            </a: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Hohes Rating ist nicht zwingend mit sehr positivem Sentiment verbunden</a:t>
            </a:r>
            <a:endParaRPr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Sentiment allein trennt Erfolg und Misserfolg nicht klar</a:t>
            </a:r>
            <a:br>
              <a:rPr lang="de-AT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>
            <p:ph idx="2" type="body"/>
          </p:nvPr>
        </p:nvSpPr>
        <p:spPr>
          <a:xfrm>
            <a:off x="4644614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625" y="792075"/>
            <a:ext cx="4320000" cy="3379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180000" y="114303"/>
            <a:ext cx="87840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Zentrale Ergebnisse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Kein klarer linearer Zusammenhang zwischen Sentiment und Umsatz</a:t>
            </a: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Erfolgreiche und nicht erfolgreiche Filme überlappen stark</a:t>
            </a: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Hoher Umsatz tritt auch bei nur moderat positivem Sentiment auf</a:t>
            </a: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Sehr positives Sentiment ist keine Voraussetzung für finanziellen Erfolg</a:t>
            </a:r>
            <a:br>
              <a:rPr lang="de-AT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>
            <p:ph idx="2" type="body"/>
          </p:nvPr>
        </p:nvSpPr>
        <p:spPr>
          <a:xfrm>
            <a:off x="4644614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39" name="Google Shape;139;p19" title="download.png"/>
          <p:cNvPicPr preferRelativeResize="0"/>
          <p:nvPr/>
        </p:nvPicPr>
        <p:blipFill rotWithShape="1">
          <a:blip r:embed="rId3">
            <a:alphaModFix/>
          </a:blip>
          <a:srcRect b="0" l="119" r="119" t="0"/>
          <a:stretch/>
        </p:blipFill>
        <p:spPr>
          <a:xfrm>
            <a:off x="4644625" y="801325"/>
            <a:ext cx="4319999" cy="354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180000" y="114303"/>
            <a:ext cx="87840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Zentrale Ergebnisse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Hohe Streuung des Sentiments bei wenigen Kommentaren</a:t>
            </a:r>
            <a:endParaRPr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Mit steigender Kommentaranzahl stabilisiert sich das durchschnittliche Sentiment</a:t>
            </a:r>
            <a:endParaRPr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Keine klare Trennung zwischen erfolgreichen und nicht erfolgreichen Filmen</a:t>
            </a:r>
            <a:endParaRPr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Viele Kommentare nicht gleich automatisch positiveres Sentiment</a:t>
            </a:r>
            <a:endParaRPr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2380"/>
              <a:buChar char="●"/>
            </a:pPr>
            <a:r>
              <a:rPr lang="de-AT"/>
              <a:t>Kommentarvolumen allein kein verlässlicher Erfolgsindikator</a:t>
            </a:r>
            <a:br>
              <a:rPr lang="de-AT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 txBox="1"/>
          <p:nvPr>
            <p:ph idx="2" type="body"/>
          </p:nvPr>
        </p:nvSpPr>
        <p:spPr>
          <a:xfrm>
            <a:off x="4644614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49" name="Google Shape;149;p20" title="download.png"/>
          <p:cNvPicPr preferRelativeResize="0"/>
          <p:nvPr/>
        </p:nvPicPr>
        <p:blipFill rotWithShape="1">
          <a:blip r:embed="rId3">
            <a:alphaModFix/>
          </a:blip>
          <a:srcRect b="119" l="0" r="0" t="109"/>
          <a:stretch/>
        </p:blipFill>
        <p:spPr>
          <a:xfrm>
            <a:off x="4712813" y="836372"/>
            <a:ext cx="4183624" cy="326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180000" y="114303"/>
            <a:ext cx="87840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Zentrale Ergebnisse</a:t>
            </a:r>
            <a:endParaRPr/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de-AT"/>
              <a:t>Erfolgreiche Filme haben im Median ein (sehr) leicht höheres Sentiment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-AT"/>
              <a:t>Nicht erfolgreiche Filme zeigen mehr extreme negative Ausreißer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-AT"/>
              <a:t>Erfolgreiche Filme haben stabileres Sentiment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-AT"/>
              <a:t>Unterschied nicht trennscharf</a:t>
            </a:r>
            <a:br>
              <a:rPr lang="de-AT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 txBox="1"/>
          <p:nvPr>
            <p:ph idx="2" type="body"/>
          </p:nvPr>
        </p:nvSpPr>
        <p:spPr>
          <a:xfrm>
            <a:off x="4644614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512" y="817050"/>
            <a:ext cx="4202224" cy="279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180000" y="114303"/>
            <a:ext cx="87840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Sentiment-only Modell (Spark ML)</a:t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179400" y="607500"/>
            <a:ext cx="4320000" cy="336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5755" lvl="0" marL="457200" rtl="0" algn="l">
              <a:spcBef>
                <a:spcPts val="375"/>
              </a:spcBef>
              <a:spcAft>
                <a:spcPts val="0"/>
              </a:spcAft>
              <a:buSzPct val="85714"/>
              <a:buChar char="•"/>
            </a:pPr>
            <a:r>
              <a:rPr lang="de-AT"/>
              <a:t>Ein logistisches Regressionsmodell wurde ausschließlich mit Sentiment-Features trainiert.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375"/>
              </a:spcBef>
              <a:spcAft>
                <a:spcPts val="0"/>
              </a:spcAft>
              <a:buSzPct val="85714"/>
              <a:buChar char="•"/>
            </a:pPr>
            <a:r>
              <a:rPr lang="de-AT"/>
              <a:t>Das Modell erreicht eine ROC AUC von 0,59, nur knapp über Zufallsniveau.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375"/>
              </a:spcBef>
              <a:spcAft>
                <a:spcPts val="0"/>
              </a:spcAft>
              <a:buSzPct val="85714"/>
              <a:buChar char="•"/>
            </a:pPr>
            <a:r>
              <a:rPr lang="de-AT"/>
              <a:t>Bei der Standard-Schwelle sagt das Modell keinen einzigen erfolgreichen Film voraus.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375"/>
              </a:spcBef>
              <a:spcAft>
                <a:spcPts val="0"/>
              </a:spcAft>
              <a:buSzPct val="85714"/>
              <a:buChar char="•"/>
            </a:pPr>
            <a:r>
              <a:rPr lang="de-AT"/>
              <a:t>Sentiment allein reicht nicht aus, um Filmerfolg zuverlässig vorherzusagen.</a:t>
            </a:r>
            <a:endParaRPr/>
          </a:p>
        </p:txBody>
      </p:sp>
      <p:sp>
        <p:nvSpPr>
          <p:cNvPr id="167" name="Google Shape;167;p22"/>
          <p:cNvSpPr txBox="1"/>
          <p:nvPr>
            <p:ph idx="2" type="body"/>
          </p:nvPr>
        </p:nvSpPr>
        <p:spPr>
          <a:xfrm>
            <a:off x="4644614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2763" y="588013"/>
            <a:ext cx="218122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00" y="4123750"/>
            <a:ext cx="8784001" cy="5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9850" y="2447838"/>
            <a:ext cx="36766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0652" y="2160513"/>
            <a:ext cx="2983350" cy="3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184350" y="2127903"/>
            <a:ext cx="8775300" cy="887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AT" sz="3000"/>
              <a:t>Technischer Ablauf</a:t>
            </a:r>
            <a:endParaRPr sz="3000"/>
          </a:p>
        </p:txBody>
      </p:sp>
      <p:sp>
        <p:nvSpPr>
          <p:cNvPr id="179" name="Google Shape;179;p23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00" y="417750"/>
            <a:ext cx="3381026" cy="1823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180000" y="114303"/>
            <a:ext cx="8775320" cy="439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de-AT"/>
              <a:t>Datenquellen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180001" y="607500"/>
            <a:ext cx="87753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de-AT"/>
              <a:t>YouTube API</a:t>
            </a:r>
            <a:endParaRPr b="1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Trailer Comments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Messbar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AT"/>
              <a:t>Kommentaranzahl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AT"/>
              <a:t>Sentiment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            Movie Success </a:t>
            </a:r>
            <a:r>
              <a:rPr b="1" lang="de-AT"/>
              <a:t>CSV</a:t>
            </a:r>
            <a:endParaRPr b="1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de-AT"/>
              <a:t>Movie Metadata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Messbar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AT"/>
              <a:t>Revenue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AT"/>
              <a:t>Rating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AT"/>
              <a:t>Success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7" name="Google Shape;187;p24"/>
          <p:cNvSpPr txBox="1"/>
          <p:nvPr>
            <p:ph idx="11" type="ftr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Präsentationstitel | Name | Datum</a:t>
            </a:r>
            <a:endParaRPr/>
          </a:p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89" name="Google Shape;18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725" y="928819"/>
            <a:ext cx="432574" cy="2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500" y="2469725"/>
            <a:ext cx="838374" cy="3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7402" y="2041025"/>
            <a:ext cx="3103274" cy="19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2350" y="327400"/>
            <a:ext cx="2737601" cy="21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180000" y="114303"/>
            <a:ext cx="87753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de-AT"/>
              <a:t>Tools &amp; Libraries:</a:t>
            </a:r>
            <a:endParaRPr/>
          </a:p>
        </p:txBody>
      </p:sp>
      <p:sp>
        <p:nvSpPr>
          <p:cNvPr id="198" name="Google Shape;198;p25"/>
          <p:cNvSpPr txBox="1"/>
          <p:nvPr>
            <p:ph idx="1" type="body"/>
          </p:nvPr>
        </p:nvSpPr>
        <p:spPr>
          <a:xfrm>
            <a:off x="180001" y="607500"/>
            <a:ext cx="87753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Pandas, NumPy (Datenaufbereitung)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VADER Sentiment Analyzer (Sentiment-Analyse-Tool für Social-Media-Text)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Apache Spark (Analyse)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Matplotlib (Visualisierung)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Scikit-learn (machine learning) &amp; PySpark ML</a:t>
            </a:r>
            <a:endParaRPr/>
          </a:p>
        </p:txBody>
      </p:sp>
      <p:sp>
        <p:nvSpPr>
          <p:cNvPr id="199" name="Google Shape;199;p25"/>
          <p:cNvSpPr txBox="1"/>
          <p:nvPr>
            <p:ph idx="11" type="ftr"/>
          </p:nvPr>
        </p:nvSpPr>
        <p:spPr>
          <a:xfrm>
            <a:off x="2793304" y="4812504"/>
            <a:ext cx="567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Präsentationstitel | Name | Datum</a:t>
            </a:r>
            <a:endParaRPr/>
          </a:p>
        </p:txBody>
      </p:sp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180000" y="114303"/>
            <a:ext cx="87753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Youtube API</a:t>
            </a:r>
            <a:endParaRPr/>
          </a:p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180001" y="607500"/>
            <a:ext cx="87753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➔"/>
            </a:pPr>
            <a:r>
              <a:rPr lang="de-AT"/>
              <a:t>Quota 10.000 pro Tag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➔"/>
            </a:pPr>
            <a:r>
              <a:rPr lang="de-AT"/>
              <a:t>Einzelne Trailer suchen = zu teuer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➔"/>
            </a:pPr>
            <a:r>
              <a:rPr lang="de-AT"/>
              <a:t>Beschränkt auf KinoCheck.com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➔"/>
            </a:pPr>
            <a:r>
              <a:rPr lang="de-AT"/>
              <a:t>Nur Trailer zwischen 2016 und 2006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➔"/>
            </a:pPr>
            <a:r>
              <a:rPr lang="de-AT"/>
              <a:t>Titel bereinigen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➔"/>
            </a:pPr>
            <a:r>
              <a:rPr lang="de-AT"/>
              <a:t>Trailer IDs speichern in Apache HBase</a:t>
            </a:r>
            <a:endParaRPr/>
          </a:p>
        </p:txBody>
      </p:sp>
      <p:sp>
        <p:nvSpPr>
          <p:cNvPr id="208" name="Google Shape;208;p26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209" name="Google Shape;2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1775" y="95275"/>
            <a:ext cx="2724151" cy="192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1775" y="2017062"/>
            <a:ext cx="2724150" cy="110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5475" y="4444938"/>
            <a:ext cx="3520457" cy="1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1775" y="3115575"/>
            <a:ext cx="272415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80000" y="114303"/>
            <a:ext cx="87753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Movie Success und Trailer Data vereinen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80001" y="607500"/>
            <a:ext cx="87753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Joinen über Titel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Inkonsistenzen weitgehend umgehen</a:t>
            </a:r>
            <a:endParaRPr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4 Phasen des joinen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Exakter Titel + Jahr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Basistitel + Jahr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Exakter Titel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BasisTitel</a:t>
            </a:r>
            <a:endParaRPr/>
          </a:p>
          <a:p>
            <a:pPr indent="0" lvl="0" marL="9144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Ausbeute: 1000 Movies → 499 Trailer → 249 Matches</a:t>
            </a:r>
            <a:endParaRPr/>
          </a:p>
        </p:txBody>
      </p:sp>
      <p:sp>
        <p:nvSpPr>
          <p:cNvPr id="220" name="Google Shape;220;p27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221" name="Google Shape;2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7096" y="1700288"/>
            <a:ext cx="3094975" cy="17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180000" y="114303"/>
            <a:ext cx="87840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Sentiment Analysis</a:t>
            </a:r>
            <a:endParaRPr/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de-AT"/>
              <a:t>Warum VADER?</a:t>
            </a:r>
            <a:endParaRPr b="1"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Optimiert für Social Media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Keine Trainingsdaten nötig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Schnell &amp; robust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de-AT"/>
              <a:t>Codeausschnitt:</a:t>
            </a:r>
            <a:endParaRPr b="1"/>
          </a:p>
          <a:p>
            <a:pPr indent="-342900" lvl="0" marL="457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VADER analysiert den Kommentartext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Berechnet den Compound-Sentiment-Score</a:t>
            </a:r>
            <a:endParaRPr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−1 = sehr negativ</a:t>
            </a:r>
            <a:endParaRPr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0 = neutral</a:t>
            </a:r>
            <a:endParaRPr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AT"/>
              <a:t>+1 = sehr positiv</a:t>
            </a:r>
            <a:endParaRPr sz="1100"/>
          </a:p>
          <a:p>
            <a:pPr indent="0" lvl="0" marL="0" rtl="0" algn="l">
              <a:spcBef>
                <a:spcPts val="375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8"/>
          <p:cNvSpPr txBox="1"/>
          <p:nvPr>
            <p:ph idx="2" type="body"/>
          </p:nvPr>
        </p:nvSpPr>
        <p:spPr>
          <a:xfrm>
            <a:off x="4644614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375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231" name="Google Shape;23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1362" y="739600"/>
            <a:ext cx="4506524" cy="26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184350" y="2127903"/>
            <a:ext cx="8775300" cy="887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AT" sz="3000"/>
              <a:t>Probleme &amp; Lessons Learned</a:t>
            </a:r>
            <a:endParaRPr sz="3000"/>
          </a:p>
        </p:txBody>
      </p:sp>
      <p:sp>
        <p:nvSpPr>
          <p:cNvPr id="238" name="Google Shape;238;p29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50" y="434675"/>
            <a:ext cx="1823102" cy="1823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title"/>
          </p:nvPr>
        </p:nvSpPr>
        <p:spPr>
          <a:xfrm>
            <a:off x="180000" y="114303"/>
            <a:ext cx="8784000" cy="43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0"/>
          <p:cNvSpPr txBox="1"/>
          <p:nvPr>
            <p:ph idx="1" type="body"/>
          </p:nvPr>
        </p:nvSpPr>
        <p:spPr>
          <a:xfrm>
            <a:off x="179388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de-AT"/>
              <a:t>Probleme</a:t>
            </a:r>
            <a:endParaRPr/>
          </a:p>
          <a:p>
            <a:pPr indent="-323850" lvl="0" marL="457200" rtl="0" algn="l"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de-AT" sz="1800"/>
              <a:t>Lange gebraucht für Themenfindung</a:t>
            </a:r>
            <a:endParaRPr sz="1800"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23850" lvl="0" marL="457200" rtl="0" algn="l"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de-AT" sz="1800"/>
              <a:t>Inkonsistenz der Youtube Titel und mehrere Trailer pro Film</a:t>
            </a:r>
            <a:endParaRPr sz="1800"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23850" lvl="0" marL="457200" rtl="0" algn="l"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de-AT" sz="1800"/>
              <a:t>Keine klaren Korrelationen trotz verschiedener Ansätze</a:t>
            </a:r>
            <a:endParaRPr sz="1800"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23850" lvl="0" marL="457200" rtl="0" algn="l"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de-AT" sz="1800"/>
              <a:t>Technische Probleme </a:t>
            </a:r>
            <a:endParaRPr sz="18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de-AT" sz="1500"/>
              <a:t>API-Limits</a:t>
            </a:r>
            <a:endParaRPr sz="15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de-AT" sz="1500"/>
              <a:t>Datenbank zeitweise nicht erreichbar</a:t>
            </a:r>
            <a:endParaRPr sz="1500"/>
          </a:p>
        </p:txBody>
      </p:sp>
      <p:sp>
        <p:nvSpPr>
          <p:cNvPr id="247" name="Google Shape;247;p30"/>
          <p:cNvSpPr txBox="1"/>
          <p:nvPr>
            <p:ph idx="2" type="body"/>
          </p:nvPr>
        </p:nvSpPr>
        <p:spPr>
          <a:xfrm>
            <a:off x="4644614" y="607500"/>
            <a:ext cx="4320000" cy="40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de-AT"/>
              <a:t>Lessons Learne</a:t>
            </a:r>
            <a:r>
              <a:rPr b="1" lang="de-AT"/>
              <a:t>d</a:t>
            </a:r>
            <a:endParaRPr/>
          </a:p>
          <a:p>
            <a:pPr indent="-323850" lvl="0" marL="457200" rtl="0" algn="l"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de-AT" sz="1800"/>
              <a:t>Früher auf Machbarkeit fokussieren</a:t>
            </a:r>
            <a:endParaRPr sz="1800"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23850" lvl="0" marL="457200" rtl="0" algn="l"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de-AT" sz="1800"/>
              <a:t>APIs effizienter nutzen (weniger Calls, Caching)</a:t>
            </a:r>
            <a:endParaRPr sz="1800"/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23850" lvl="0" marL="457200" rtl="0" algn="l"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de-AT" sz="1800"/>
              <a:t>Auch fehlende Zusammenhänge sind ein valides Ergebnis</a:t>
            </a:r>
            <a:endParaRPr sz="1800"/>
          </a:p>
        </p:txBody>
      </p:sp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idx="12" type="sldNum"/>
          </p:nvPr>
        </p:nvSpPr>
        <p:spPr>
          <a:xfrm>
            <a:off x="8542066" y="4812504"/>
            <a:ext cx="4854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255" name="Google Shape;2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561975"/>
            <a:ext cx="714375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